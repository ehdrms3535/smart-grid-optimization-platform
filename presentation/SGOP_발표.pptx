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270721" y="328041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6328" y="3323844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1805" y="297180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120700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9509" y="349300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68896" y="1977617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5784" y="2702052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71816" y="178308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5313" y="1614371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1805" y="137160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9509" y="233172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310896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7609" y="2773145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0721" y="2208789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3017" y="408736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1544" y="242316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44475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6800" b="1">
                <a:solidFill>
                  <a:schemeClr val="tx1"/>
                </a:solidFill>
              </a:rPr>
              <a:t>SGOP</a:t>
            </a:r>
            <a:endParaRPr lang="en-US" sz="6800">
              <a:solidFill>
                <a:schemeClr val="tx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</a:rPr>
              <a:t>Smart Grid Optimization Platform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>
                <a:solidFill>
                  <a:schemeClr val="tx1"/>
                </a:solidFill>
                <a:latin typeface="맑은 고딕"/>
                <a:ea typeface="맑은 고딕"/>
              </a:rPr>
              <a:t>웹 기반 한국 송전망 혼잡도 모니터링 및</a:t>
            </a:r>
            <a:endParaRPr lang="en-US" sz="1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0" lvl="0" indent="0" algn="l">
              <a:buNone/>
              <a:defRPr/>
            </a:pPr>
            <a:r>
              <a:rPr lang="en-US" sz="1400">
                <a:solidFill>
                  <a:schemeClr val="tx1"/>
                </a:solidFill>
                <a:latin typeface="맑은 고딕"/>
                <a:ea typeface="맑은 고딕"/>
              </a:rPr>
              <a:t>신규 송전탑 최적 설치점 제안 시뮬레이터</a:t>
            </a:r>
            <a:endParaRPr lang="en-US" sz="1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41148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>
                <a:solidFill>
                  <a:schemeClr val="tx1"/>
                </a:solidFill>
                <a:latin typeface="맑은 고딕"/>
                <a:ea typeface="맑은 고딕"/>
              </a:rPr>
              <a:t>권나현  ·  김도림  ·  김동근  ·  박차오름    |    컴퓨터공학과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  </a:t>
            </a:r>
            <a:r>
              <a:rPr lang="en-US" altLang="ko-KR" sz="1200">
                <a:solidFill>
                  <a:schemeClr val="tx1"/>
                </a:solidFill>
                <a:latin typeface="맑은 고딕"/>
              </a:rPr>
              <a:t>|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  팀 </a:t>
            </a:r>
            <a:r>
              <a:rPr lang="zh-CN" altLang="en-US" sz="1200">
                <a:solidFill>
                  <a:schemeClr val="tx1"/>
                </a:solidFill>
                <a:latin typeface="맑은 고딕"/>
                <a:ea typeface="맑은 고딕"/>
              </a:rPr>
              <a:t>石4</a:t>
            </a:r>
            <a:r>
              <a:rPr lang="ko-KR" altLang="en-US" sz="1200">
                <a:solidFill>
                  <a:schemeClr val="tx1"/>
                </a:solidFill>
                <a:latin typeface="맑은 고딕"/>
              </a:rPr>
              <a:t>  </a:t>
            </a:r>
            <a:endParaRPr lang="ko-KR" altLang="en-US" sz="1200">
              <a:solidFill>
                <a:schemeClr val="tx1"/>
              </a:solidFill>
              <a:latin typeface="맑은 고딕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2418" y="1696667"/>
            <a:ext cx="726492" cy="726492"/>
          </a:xfrm>
          <a:prstGeom prst="rect">
            <a:avLst/>
          </a:prstGeom>
        </p:spPr>
      </p:pic>
      <p:cxnSp>
        <p:nvCxnSpPr>
          <p:cNvPr id="29" name="선 28"/>
          <p:cNvCxnSpPr>
            <a:stCxn id="11" idx="3"/>
            <a:endCxn id="16" idx="0"/>
          </p:cNvCxnSpPr>
          <p:nvPr/>
        </p:nvCxnSpPr>
        <p:spPr>
          <a:xfrm rot="5400000">
            <a:off x="6179253" y="1928624"/>
            <a:ext cx="453929" cy="106399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선 29"/>
          <p:cNvCxnSpPr>
            <a:endCxn id="11" idx="6"/>
          </p:cNvCxnSpPr>
          <p:nvPr/>
        </p:nvCxnSpPr>
        <p:spPr>
          <a:xfrm rot="10800000" flipV="1">
            <a:off x="6599905" y="1492898"/>
            <a:ext cx="291901" cy="203768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선 30"/>
          <p:cNvCxnSpPr>
            <a:stCxn id="6" idx="2"/>
          </p:cNvCxnSpPr>
          <p:nvPr/>
        </p:nvCxnSpPr>
        <p:spPr>
          <a:xfrm rot="10800000" flipV="1">
            <a:off x="7056398" y="1289304"/>
            <a:ext cx="277090" cy="164592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선 31"/>
          <p:cNvCxnSpPr>
            <a:stCxn id="10" idx="0"/>
            <a:endCxn id="6" idx="4"/>
          </p:cNvCxnSpPr>
          <p:nvPr/>
        </p:nvCxnSpPr>
        <p:spPr>
          <a:xfrm rot="16200000" flipV="1">
            <a:off x="7379208" y="1408176"/>
            <a:ext cx="411480" cy="338328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선 32"/>
          <p:cNvCxnSpPr>
            <a:stCxn id="8" idx="1"/>
            <a:endCxn id="11" idx="5"/>
          </p:cNvCxnSpPr>
          <p:nvPr/>
        </p:nvCxnSpPr>
        <p:spPr>
          <a:xfrm rot="10800000">
            <a:off x="6575802" y="1754859"/>
            <a:ext cx="617198" cy="246862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선 33"/>
          <p:cNvCxnSpPr>
            <a:stCxn id="8" idx="3"/>
            <a:endCxn id="13" idx="7"/>
          </p:cNvCxnSpPr>
          <p:nvPr/>
        </p:nvCxnSpPr>
        <p:spPr>
          <a:xfrm rot="10800000" flipV="1">
            <a:off x="6949997" y="2118106"/>
            <a:ext cx="243003" cy="237718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선 34"/>
          <p:cNvCxnSpPr>
            <a:stCxn id="10" idx="2"/>
            <a:endCxn id="8" idx="6"/>
          </p:cNvCxnSpPr>
          <p:nvPr/>
        </p:nvCxnSpPr>
        <p:spPr>
          <a:xfrm rot="10800000" flipV="1">
            <a:off x="7333488" y="1865376"/>
            <a:ext cx="338328" cy="194537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선 35"/>
          <p:cNvCxnSpPr>
            <a:stCxn id="15" idx="0"/>
            <a:endCxn id="16" idx="4"/>
          </p:cNvCxnSpPr>
          <p:nvPr/>
        </p:nvCxnSpPr>
        <p:spPr>
          <a:xfrm rot="16200000" flipV="1">
            <a:off x="6276579" y="2449819"/>
            <a:ext cx="399764" cy="246889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선 36"/>
          <p:cNvCxnSpPr/>
          <p:nvPr/>
        </p:nvCxnSpPr>
        <p:spPr>
          <a:xfrm rot="10800000" flipV="1">
            <a:off x="7056398" y="2784348"/>
            <a:ext cx="359386" cy="269748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선 37"/>
          <p:cNvCxnSpPr>
            <a:stCxn id="9" idx="1"/>
          </p:cNvCxnSpPr>
          <p:nvPr/>
        </p:nvCxnSpPr>
        <p:spPr>
          <a:xfrm rot="10800000">
            <a:off x="6891806" y="2496312"/>
            <a:ext cx="548082" cy="229843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선 38"/>
          <p:cNvCxnSpPr>
            <a:stCxn id="18" idx="2"/>
            <a:endCxn id="9" idx="0"/>
          </p:cNvCxnSpPr>
          <p:nvPr/>
        </p:nvCxnSpPr>
        <p:spPr>
          <a:xfrm rot="10800000" flipV="1">
            <a:off x="7498080" y="2505456"/>
            <a:ext cx="283464" cy="196596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선 39"/>
          <p:cNvCxnSpPr>
            <a:endCxn id="8" idx="5"/>
          </p:cNvCxnSpPr>
          <p:nvPr/>
        </p:nvCxnSpPr>
        <p:spPr>
          <a:xfrm rot="10800000">
            <a:off x="7309384" y="2118106"/>
            <a:ext cx="527024" cy="295910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선 40"/>
          <p:cNvCxnSpPr>
            <a:stCxn id="10" idx="4"/>
          </p:cNvCxnSpPr>
          <p:nvPr/>
        </p:nvCxnSpPr>
        <p:spPr>
          <a:xfrm rot="16200000" flipH="1">
            <a:off x="7575804" y="2125980"/>
            <a:ext cx="466344" cy="109728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선 41"/>
          <p:cNvCxnSpPr>
            <a:endCxn id="3" idx="0"/>
          </p:cNvCxnSpPr>
          <p:nvPr/>
        </p:nvCxnSpPr>
        <p:spPr>
          <a:xfrm rot="5400000">
            <a:off x="6305125" y="2985629"/>
            <a:ext cx="342672" cy="246889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선 42"/>
          <p:cNvCxnSpPr>
            <a:stCxn id="3" idx="4"/>
            <a:endCxn id="17" idx="0"/>
          </p:cNvCxnSpPr>
          <p:nvPr/>
        </p:nvCxnSpPr>
        <p:spPr>
          <a:xfrm rot="16200000" flipH="1">
            <a:off x="6072983" y="3725037"/>
            <a:ext cx="642366" cy="82294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선 43"/>
          <p:cNvCxnSpPr>
            <a:stCxn id="7" idx="1"/>
            <a:endCxn id="3" idx="5"/>
          </p:cNvCxnSpPr>
          <p:nvPr/>
        </p:nvCxnSpPr>
        <p:spPr>
          <a:xfrm rot="10800000">
            <a:off x="6411210" y="3420898"/>
            <a:ext cx="422403" cy="96213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선 44"/>
          <p:cNvCxnSpPr>
            <a:stCxn id="4" idx="2"/>
            <a:endCxn id="7" idx="6"/>
          </p:cNvCxnSpPr>
          <p:nvPr/>
        </p:nvCxnSpPr>
        <p:spPr>
          <a:xfrm rot="10800000" flipV="1">
            <a:off x="6974102" y="3406140"/>
            <a:ext cx="222226" cy="169164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선 45"/>
          <p:cNvCxnSpPr>
            <a:stCxn id="14" idx="3"/>
          </p:cNvCxnSpPr>
          <p:nvPr/>
        </p:nvCxnSpPr>
        <p:spPr>
          <a:xfrm rot="10800000" flipV="1">
            <a:off x="7360920" y="3249448"/>
            <a:ext cx="362432" cy="179552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선 46"/>
          <p:cNvCxnSpPr>
            <a:stCxn id="14" idx="0"/>
            <a:endCxn id="18" idx="4"/>
          </p:cNvCxnSpPr>
          <p:nvPr/>
        </p:nvCxnSpPr>
        <p:spPr>
          <a:xfrm rot="5400000" flipH="1" flipV="1">
            <a:off x="7562088" y="2807208"/>
            <a:ext cx="521208" cy="82296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선 47"/>
          <p:cNvCxnSpPr>
            <a:stCxn id="5" idx="4"/>
            <a:endCxn id="7" idx="0"/>
          </p:cNvCxnSpPr>
          <p:nvPr/>
        </p:nvCxnSpPr>
        <p:spPr>
          <a:xfrm rot="5400000">
            <a:off x="6754646" y="3273552"/>
            <a:ext cx="356616" cy="82295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선 48"/>
          <p:cNvCxnSpPr>
            <a:endCxn id="15" idx="7"/>
          </p:cNvCxnSpPr>
          <p:nvPr/>
        </p:nvCxnSpPr>
        <p:spPr>
          <a:xfrm rot="5400000">
            <a:off x="6542187" y="2529927"/>
            <a:ext cx="383233" cy="151410"/>
          </a:xfrm>
          <a:prstGeom prst="line">
            <a:avLst/>
          </a:prstGeom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문제 정의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92400e"/>
                </a:solidFill>
                <a:latin typeface="맑은 고딕"/>
              </a:rPr>
              <a:t>⚡</a:t>
            </a:r>
            <a:r>
              <a:rPr lang="en-US" sz="1500" b="1">
                <a:solidFill>
                  <a:srgbClr val="92400e"/>
                </a:solidFill>
                <a:latin typeface="맑은 고딕"/>
                <a:ea typeface="맑은 고딕"/>
              </a:rPr>
              <a:t> 한국 송전망 현황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54533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153543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수도권 전력 수요 집중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발전원은 비수도권에 편중 → 장거리 송전 의존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48793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특정 선로 혼잡 지속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송전 제약 → 고비용 발전기 추가 가동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46557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345757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비효율적 인프라 투자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계통 운영 비용 증가 · 안정성 저하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1500"/>
          </a:p>
        </p:txBody>
      </p:sp>
      <p:sp>
        <p:nvSpPr>
          <p:cNvPr id="21" name="Text 19"/>
          <p:cNvSpPr/>
          <p:nvPr/>
        </p:nvSpPr>
        <p:spPr>
          <a:xfrm>
            <a:off x="495681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991b1b"/>
                </a:solidFill>
                <a:latin typeface="맑은 고딕"/>
                <a:ea typeface="맑은 고딕"/>
              </a:rPr>
              <a:t>🔧 </a:t>
            </a:r>
            <a:r>
              <a:rPr lang="ko-KR" altLang="en-US" sz="1500" b="1">
                <a:solidFill>
                  <a:srgbClr val="991b1b"/>
                </a:solidFill>
                <a:latin typeface="맑은 고딕"/>
                <a:ea typeface="맑은 고딕"/>
              </a:rPr>
              <a:t> </a:t>
            </a:r>
            <a:r>
              <a:rPr lang="en-US" sz="1500" b="1">
                <a:solidFill>
                  <a:srgbClr val="991b1b"/>
                </a:solidFill>
                <a:latin typeface="맑은 고딕"/>
                <a:ea typeface="맑은 고딕"/>
              </a:rPr>
              <a:t>기존 도구의 한계</a:t>
            </a:r>
            <a:endParaRPr lang="en-US" sz="1500" b="1">
              <a:solidFill>
                <a:srgbClr val="991b1b"/>
              </a:solidFill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DIgSILENT / ETAP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03520" y="1783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높은 정밀도, 고비용 라이선스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전문가 전용 · 가파른 학습 곡선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pandapower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03520" y="2743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계산 유연성 우수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WebUI · 지도 연동 · AI 설명 없음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03520" y="3429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맑은 고딕"/>
                <a:ea typeface="맑은 고딕"/>
              </a:rPr>
              <a:t>공통 한계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703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상호작용성 부족</a:t>
            </a:r>
            <a:endParaRPr lang="en-US" sz="105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맑은 고딕"/>
                <a:ea typeface="맑은 고딕"/>
              </a:rPr>
              <a:t>빠른 가설 검증 불가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966716" y="150876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966716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en-US" sz="1100">
              <a:latin typeface="맑은 고딕"/>
              <a:ea typeface="맑은 고딕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4966335" y="249631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966335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1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en-US" altLang="ko-KR" sz="11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4966335" y="3436239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46" name="Text 6"/>
          <p:cNvSpPr/>
          <p:nvPr/>
        </p:nvSpPr>
        <p:spPr>
          <a:xfrm>
            <a:off x="4966335" y="34362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11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en-US" altLang="ko-KR" sz="11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SGOP 솔루션 개요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399"/>
            <a:ext cx="8595360" cy="816117"/>
          </a:xfrm>
          <a:prstGeom prst="rect">
            <a:avLst/>
          </a:prstGeom>
          <a:solidFill>
            <a:srgbClr val="243b55"/>
          </a:solidFill>
          <a:ln w="1905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>
                <a:solidFill>
                  <a:schemeClr val="lt1"/>
                </a:solidFill>
                <a:latin typeface="맑은 고딕"/>
                <a:ea typeface="맑은 고딕"/>
              </a:rPr>
              <a:t>SGOP는 정밀 계통해석 도구의 대체재가 </a:t>
            </a:r>
            <a:r>
              <a:rPr lang="ko-KR" altLang="en-US" sz="1500">
                <a:solidFill>
                  <a:schemeClr val="lt1"/>
                </a:solidFill>
                <a:latin typeface="맑은 고딕"/>
              </a:rPr>
              <a:t>아닌</a:t>
            </a:r>
            <a:r>
              <a:rPr lang="en-US" altLang="ko-KR" sz="1500">
                <a:solidFill>
                  <a:schemeClr val="lt1"/>
                </a:solidFill>
                <a:latin typeface="맑은 고딕"/>
              </a:rPr>
              <a:t>,</a:t>
            </a:r>
            <a:endParaRPr lang="en-US" altLang="ko-KR" sz="1500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chemeClr val="lt1"/>
                </a:solidFill>
                <a:latin typeface="맑은 고딕"/>
                <a:ea typeface="맑은 고딕"/>
              </a:rPr>
              <a:t>웹 기반 상호작용성과 설명 가능성을 강조한 "의사결정 지원형 시뮬레이터"입니다.</a:t>
            </a:r>
            <a:endParaRPr lang="en-US" sz="1500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99333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79676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317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지도 기반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시각화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432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브이월드 API 연동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혼잡도 직관적 파악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154680" y="199333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979676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3317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인터랙티브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시뮬레이션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15468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클릭으로 가설 설정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즉시 결과 비교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35040" y="1993330"/>
            <a:ext cx="2743200" cy="2761550"/>
          </a:xfrm>
          <a:prstGeom prst="rect">
            <a:avLst/>
          </a:prstGeom>
          <a:solidFill>
            <a:schemeClr val="lt1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979676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3317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3063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AI 보조</a:t>
            </a:r>
            <a:endParaRPr lang="en-US" sz="1500" b="1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chemeClr val="dk1"/>
                </a:solidFill>
                <a:latin typeface="맑은 고딕"/>
                <a:ea typeface="맑은 고딕"/>
              </a:rPr>
              <a:t>의사결정</a:t>
            </a:r>
            <a:endParaRPr lang="en-US" sz="1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03504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추천 · 예측 · 설명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chemeClr val="dk1"/>
                </a:solidFill>
                <a:latin typeface="맑은 고딕"/>
                <a:ea typeface="맑은 고딕"/>
              </a:rPr>
              <a:t>통합 서비스</a:t>
            </a:r>
            <a:endParaRPr lang="en-US" sz="12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6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핵심 기능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530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301" y="894961"/>
            <a:ext cx="201168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6" name="Text 4"/>
          <p:cNvSpPr/>
          <p:nvPr/>
        </p:nvSpPr>
        <p:spPr>
          <a:xfrm>
            <a:off x="84530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4530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실시간 송전망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모니터링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530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선로 이용률 기반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동적 색상 시각화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3986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9861" y="894961"/>
            <a:ext cx="20116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11" name="Text 9"/>
          <p:cNvSpPr/>
          <p:nvPr/>
        </p:nvSpPr>
        <p:spPr>
          <a:xfrm>
            <a:off x="303986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03986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신규 송전탑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설치 시뮬레이션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3986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 클릭으로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가상 배치 즉시 반영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34421" y="8949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4421" y="894961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/>
          </a:p>
        </p:txBody>
      </p:sp>
      <p:sp>
        <p:nvSpPr>
          <p:cNvPr id="16" name="Text 14"/>
          <p:cNvSpPr/>
          <p:nvPr/>
        </p:nvSpPr>
        <p:spPr>
          <a:xfrm>
            <a:off x="5234421" y="8949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03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5234421" y="13064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AI 파라미터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추천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34421" y="19922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전압·용량·리액턴스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초기값 자동 제안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94258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42581" y="2723761"/>
            <a:ext cx="20116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4258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b="1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4258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xAI 설명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리포트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4258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왜 비효율적인지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정량 지표로 설명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13714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37141" y="2723761"/>
            <a:ext cx="201168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3714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3714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1e293b"/>
                </a:solidFill>
                <a:latin typeface="맑은 고딕"/>
                <a:ea typeface="맑은 고딕"/>
              </a:rPr>
              <a:t>병목 위험 구간</a:t>
            </a:r>
            <a:endParaRPr lang="ko-KR" alt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부하</a:t>
            </a:r>
            <a:r>
              <a:rPr lang="ko-KR" altLang="en-US" sz="1500" b="1">
                <a:solidFill>
                  <a:srgbClr val="1e293b"/>
                </a:solidFill>
                <a:latin typeface="맑은 고딕"/>
                <a:ea typeface="맑은 고딕"/>
              </a:rPr>
              <a:t> </a:t>
            </a: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예측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3714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LSTM 기반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병목 위험 구간 식별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1701" y="2723761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1701" y="2723761"/>
            <a:ext cx="201168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200">
              <a:latin typeface="맑은 고딕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31701" y="2723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  <a:endParaRPr lang="en-US" altLang="ko-KR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31701" y="3135241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최적 설치점</a:t>
            </a:r>
            <a:endParaRPr lang="en-US" sz="1500" b="1">
              <a:solidFill>
                <a:srgbClr val="1e293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자동 추천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1701" y="3821041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A* 탐색 + AI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후보 제시</a:t>
            </a:r>
            <a:endParaRPr lang="en-US" sz="12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핵심 사용자 흐름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54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1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병목 확인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지도에서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혼잡 선로 식별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37360" y="2194560"/>
            <a:ext cx="21945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47088" y="20848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2563eb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56816" y="91440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56816" y="914400"/>
            <a:ext cx="1554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6816" y="914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2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56816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가설 설치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56816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지도 클릭으로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송전탑 배치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11296" y="2194560"/>
            <a:ext cx="21945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21024" y="20848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891b2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30752" y="91440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30752" y="914400"/>
            <a:ext cx="1554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30752" y="914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3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30752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AI 추천 적용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30752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파라미터 자동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제안 + 검토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85232" y="2194560"/>
            <a:ext cx="219456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94960" y="20848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7c3aed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04688" y="91440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04688" y="914400"/>
            <a:ext cx="1554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04688" y="914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4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04688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결과 확인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04688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KPI · 색상 · 설명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즉시 반영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059168" y="2194560"/>
            <a:ext cx="219456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 sz="1200">
              <a:latin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68896" y="20848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59669"/>
                </a:solidFill>
                <a:latin typeface="맑은 고딕"/>
                <a:ea typeface="맑은 고딕"/>
              </a:rPr>
              <a:t>▶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78624" y="91440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78624" y="914400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 sz="2000">
              <a:latin typeface="맑은 고딕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78624" y="914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 b="1" kern="0" spc="100">
                <a:solidFill>
                  <a:srgbClr val="ffffff"/>
                </a:solidFill>
                <a:latin typeface="맑은 고딕"/>
                <a:ea typeface="맑은 고딕"/>
              </a:rPr>
              <a:t>STEP 5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7862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맑은 고딕"/>
                <a:ea typeface="맑은 고딕"/>
              </a:rPr>
              <a:t>대안 비교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78624" y="2148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시나리오 저장</a:t>
            </a:r>
            <a:endParaRPr lang="en-US" sz="1200">
              <a:solidFill>
                <a:srgbClr val="64748b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맑은 고딕"/>
                <a:ea typeface="맑은 고딕"/>
              </a:rPr>
              <a:t>후 비교 분석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82880" y="4434840"/>
            <a:ext cx="87782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>
                <a:solidFill>
                  <a:srgbClr val="1d4ed8"/>
                </a:solidFill>
                <a:latin typeface="맑은 고딕"/>
                <a:ea typeface="맑은 고딕"/>
              </a:rPr>
              <a:t>+ 예측 모드: LSTM </a:t>
            </a:r>
            <a:r>
              <a:rPr lang="ko-KR" altLang="en-US" sz="1100">
                <a:solidFill>
                  <a:srgbClr val="1d4ed8"/>
                </a:solidFill>
                <a:latin typeface="맑은 고딕"/>
                <a:ea typeface="맑은 고딕"/>
              </a:rPr>
              <a:t>기반 병목 위험 구간 </a:t>
            </a:r>
            <a:r>
              <a:rPr lang="en-US" sz="1100">
                <a:solidFill>
                  <a:srgbClr val="1d4ed8"/>
                </a:solidFill>
                <a:latin typeface="맑은 고딕"/>
                <a:ea typeface="맑은 고딕"/>
              </a:rPr>
              <a:t>부하 예측 → 시간대별 위험 구간 표시 </a:t>
            </a:r>
            <a:endParaRPr lang="en-US" sz="1100">
              <a:solidFill>
                <a:srgbClr val="1d4ed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</a:rPr>
              <a:t>시스템 아키텍처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86868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8288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① Presentation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53312"/>
            <a:ext cx="187452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브이월드 지도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1353312"/>
            <a:ext cx="187452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사이드바 제어 패널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1353312"/>
            <a:ext cx="187452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KPI 카드 / 차트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38544" y="1353312"/>
            <a:ext cx="187452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시나리오 비교 패널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7739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920240"/>
            <a:ext cx="8686800" cy="868680"/>
          </a:xfrm>
          <a:prstGeom prst="rect">
            <a:avLst/>
          </a:prstGeom>
          <a:solidFill>
            <a:srgbClr val="F0FDFA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1920240"/>
            <a:ext cx="1828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② Orchestration Layer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359152"/>
            <a:ext cx="187452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Session State 관리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78608" y="2359152"/>
            <a:ext cx="187452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클릭 좌표 / 부하 설정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08576" y="2359152"/>
            <a:ext cx="187452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폼 입력 상태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38544" y="2359152"/>
            <a:ext cx="187452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시나리오 선택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2788920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7797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926080"/>
            <a:ext cx="8686800" cy="86868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2926080"/>
            <a:ext cx="18288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③ Domain Service Layer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364992"/>
            <a:ext cx="1874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MonitoringService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78608" y="3364992"/>
            <a:ext cx="1874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SimulationService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08576" y="3364992"/>
            <a:ext cx="1874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RecommendationService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38544" y="3364992"/>
            <a:ext cx="1874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PredictionService / OptimizationService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3794760"/>
            <a:ext cx="0" cy="731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37856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931920"/>
            <a:ext cx="8686800" cy="868680"/>
          </a:xfrm>
          <a:prstGeom prst="rect">
            <a:avLst/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3931920"/>
            <a:ext cx="1828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995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④ Computation Engine Layer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370832"/>
            <a:ext cx="187452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dc_power_flow.py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78608" y="4370832"/>
            <a:ext cx="187452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78608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astar_router.py / candidate_generator.py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08576" y="4370832"/>
            <a:ext cx="187452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08576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lstm_forecaster.py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38544" y="4370832"/>
            <a:ext cx="1874520" cy="2743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8544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ess_optimizer.py / xai_reporter.py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알고리즘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DC Power Flow (핵심 연산 엔진)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수식: Bθ = 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선로 흐름: Fij = (θi - θj) / xij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840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이용률: Uij = |Fij| / capacity_ij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선택 이유: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빠른 계산 (반복 시뮬레이션 적합)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웹 인터랙션과 결합 최적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✔ MVP 혼잡도 비교에 충분한 정확도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91440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A* 기반 설치점 탐색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① 후보 좌표 생성 (과부하 선로 주변 buffer)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② A* 연결 탐색 (거리 + 지형 + 연결비용)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057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③ DC PF 재계산 → 손실·혼잡 점수화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④ AI 보조 재랭킹 → 상위 3~5개 추천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7180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71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효율성 점수 모델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474720"/>
            <a:ext cx="3931920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21B6"/>
                </a:solidFill>
              </a:rPr>
              <a:t>S_eff = 0.45·ΔU + 0.35·ΔP_loss − 0.20·C_dist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931920"/>
            <a:ext cx="164592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 ≥ 0.8  →  초록 (효과적)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206240"/>
            <a:ext cx="16459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0.4 ≤ S &lt; 0.8  →  노랑 (보통)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4480560"/>
            <a:ext cx="16459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 &lt; 0.4  →  빨강 (개선 필요)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학습 및 송전망 경로 최적화 메커니즘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① 학습 데이터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과거 부하 이력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시간대별 수요 패턴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94767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요일·공휴일·계절 변수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2677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지역별 수요 비중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혼잡 시나리오 로그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62763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병목 발생 구간·시각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194767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과부하 선로 특성값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226771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혼잡 해소 성공 패턴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설치 이력 데이터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16276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5819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후보 위치 특성 피처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19476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901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적용된 파라미터 값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226771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221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결과 개선 정도(ΔU, ΔP)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2633472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7249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2926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② AI 모델 학습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218688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— 부하 예측 모델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입력: 최근 72h 부하 + 시간대 + 요일 + 지역 수요 비중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학습: 시계열 시퀀스 → LSTM → Dense → 24h 예측값 출력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출력: 시간대별 예측 부하 + 병목 위험 Top-N 선로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218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218688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Heuristic Ranker — 설치점 추천 보조 모델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입력: 후보 위치 피처 (거리·부하·전압·혼잡도)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학습: 과거 성공 사례 → 회귀 기반 점수 예측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187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출력: A* 후보 재랭킹 → 상위 3~5개 최종 추천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③ 검증 루프:  AI 추천 결과  →  DC Power Flow 재계산 (결정론적)  →  ΔU · ΔP_loss 수치 확인  →  사용자 최종 선택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Framework / Language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075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Streamlit (프론트+백 통합)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5506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2743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176272"/>
            <a:ext cx="27432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Computation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5237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NumPy / SciPy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8712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NetworkX (그래프)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218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cvxpy (ESS 최적화)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914400"/>
            <a:ext cx="2743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914400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/ ML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13075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TensorFlow / Keras (LSTM)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6550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규칙기반 xAI 리포터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00253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1956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pandas (데이터 처리)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2523744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523744"/>
            <a:ext cx="274320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523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Map / Visualization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291693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28712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브이월드 Open 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26440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218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Plotly / Altair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914400"/>
            <a:ext cx="27432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914400"/>
            <a:ext cx="27432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Storage / Deploy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130759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261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CSV / SQLite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165506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16093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Streamlit Community Cloud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0253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19568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GitHub + secrets.toml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12주 개발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103120" cy="38862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1031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기반 구축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1~4주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요구사항·스키마 정의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Streamlit + 브이월드 연동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DC Power Flow 엔진 구현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KPI 대시보드 · 시나리오 구조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95728" y="914400"/>
            <a:ext cx="2103120" cy="3886200"/>
          </a:xfrm>
          <a:prstGeom prst="rect">
            <a:avLst/>
          </a:prstGeom>
          <a:solidFill>
            <a:srgbClr val="F0FDFA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914400"/>
            <a:ext cx="21031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시뮬레이터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95728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5~7주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87168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사용자 클릭형 설치 기능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87168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A* 탐색 · 추천 3~5개 표시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효율 점수 · 색상 그라데이션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87168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xAI 설명 텍스트 로직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98848" y="2834640"/>
            <a:ext cx="1097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08576" y="914400"/>
            <a:ext cx="2103120" cy="388620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914400"/>
            <a:ext cx="21031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· 최적화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08576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8~10주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LSTM 24h 예측 대시보드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ESS cvxpy 최적화 모듈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0016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5736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파라미터 추천 기능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0016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5736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캐시 구조 정리 · UX 개선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11696" y="2834640"/>
            <a:ext cx="10972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27432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21424" y="914400"/>
            <a:ext cx="2103120" cy="3886200"/>
          </a:xfrm>
          <a:prstGeom prst="rect">
            <a:avLst/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21424" y="914400"/>
            <a:ext cx="21031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1424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배포 · 마무리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21424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11~12주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16276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58584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통합 테스트 · 버그 수정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12864" y="219456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58584" y="2194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Streamlit Cloud 배포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12864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58584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Secrets / VWorld 키 설정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12864" y="33284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8584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발표 데모 시나리오 준비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★ 개발 우선순위: 지도 + DC Power Flow + 설치 시뮬레이션 먼저 → 예측 / xAI / ESS는 후반부에 통합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기존 도구 대비 차별점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286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737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DIgSILENT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 ETAP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914400"/>
            <a:ext cx="1737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pandapower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914400"/>
            <a:ext cx="18288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SGOP 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35608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35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정밀 계통해석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4356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✔ 높음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143560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435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✔ 중간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435608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35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△ 제한적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911096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11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Web UI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911096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911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1911096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911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1911096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110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38658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86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지도 연동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2386584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386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2386584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386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386584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386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 (VWorld)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862072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62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인터랙티브 설치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862072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2862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862072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862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2862072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 클릭형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33756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AI 추천/설명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06040" y="333756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333756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3337560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 xAI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813048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부하 예측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3813048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3813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별도 모듈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389120" y="3813048"/>
            <a:ext cx="1737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3813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별도 모듈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72200" y="3813048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 LSTM 통합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88536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288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접근성·비용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06040" y="4288536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1760" y="42885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✕ 고비용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89120" y="4288536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42885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✔ 오픈소스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172200" y="4288536"/>
            <a:ext cx="18288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42885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✔ 오픈소스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기대 효과 &amp; 활용 사례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기대 효과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20574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53312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혼잡 이슈 직관화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48716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지도 위 선로 색상으로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혼잡도 즉시 파악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303580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비전문가도 현황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이해 가능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41448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41448" y="1170432"/>
            <a:ext cx="20574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53312"/>
            <a:ext cx="530352" cy="530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41448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빠른 의사결정 지원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15768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24328" y="248716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88920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클릭 한 번으로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설치 효과 즉시 확인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624328" y="30358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8892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기존 대비 검토 속도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획기적 단축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54296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54296" y="1170432"/>
            <a:ext cx="20574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353312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54296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AI 기반 설명 가능성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928616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37176" y="24871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01768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왜 비효율인지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정량 지표로 설명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837176" y="303580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01768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추천 근거 투명하게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제시 (xAI)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867144" y="1170432"/>
            <a:ext cx="205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867144" y="1170432"/>
            <a:ext cx="20574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353312"/>
            <a:ext cx="530352" cy="5303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67144" y="19476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통합 시나리오 분석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141464" y="2359152"/>
            <a:ext cx="15087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050024" y="248716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214616" y="243230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예측·ESS·설치안을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한 화면에서 비교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050024" y="303580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214616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다중 대안 저장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객관적 수치 비교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228600" y="384048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228600" y="3840480"/>
            <a:ext cx="164592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0292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활용 사례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0292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🎓 교육용 시뮬레이터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0292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전력계통 수업·연구 실습에서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송전망 혼잡과 증설 전략 실습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26517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🔍 예비 검토 도구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265176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특정 지역 신규 송전탑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설치 후보지 빠른 비교 검토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48006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📊 발표용 프로토타입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480060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공공기관·기업의 스마트그리드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아이디어를 지도로 시각화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694944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🚀 확장 가능 플랫폼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949440" y="4507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배전망·재생에너지 연계·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전력시장 경제성 분석으로 확장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0" y="0"/>
            <a:ext cx="9146592" cy="520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결론 및 요약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914400"/>
            <a:ext cx="6217920" cy="1005840"/>
          </a:xfrm>
          <a:prstGeom prst="rect">
            <a:avLst/>
          </a:prstGeom>
          <a:solidFill>
            <a:srgbClr val="243B55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SGOP는 한국 송전망 혼잡 문제를 지도 기반 웹 시뮬레이션으로 직관적으로 접근하며,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시각화·예측·최적화·AI 설명을 단일 플랫폼으로 통합합니다.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0972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chemeClr val="dk1"/>
                </a:solidFill>
              </a:rPr>
              <a:t>웹 기반 인터랙티브 시뮬레이터 (비전문가 접근 가능)</a:t>
            </a:r>
            <a:endParaRPr lang="en-US" sz="1300">
              <a:solidFill>
                <a:schemeClr val="dk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10972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2670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chemeClr val="dk1"/>
                </a:solidFill>
              </a:rPr>
              <a:t>DC Power Flow + A* + LSTM + ESS 통합 엔진</a:t>
            </a:r>
            <a:endParaRPr lang="en-US" sz="1300">
              <a:solidFill>
                <a:schemeClr val="dk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10972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32369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chemeClr val="dk1"/>
                </a:solidFill>
              </a:rPr>
              <a:t>AI는 판단을 보조 — 최종 결과는 결정론적 엔진이 검증</a:t>
            </a:r>
            <a:endParaRPr lang="en-US" sz="1300">
              <a:solidFill>
                <a:schemeClr val="dk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3803904"/>
            <a:ext cx="10972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38039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chemeClr val="dk1"/>
                </a:solidFill>
              </a:rPr>
              <a:t>오픈소스 구조 · Streamlit Cloud 배포 · GitHub 공개</a:t>
            </a:r>
            <a:endParaRPr lang="en-US" sz="1300">
              <a:solidFill>
                <a:schemeClr val="dk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"클릭 한 번으로 가설을 세우고, AI가 설명하며, 엔진이 검증합니다."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957</ep:Words>
  <ep:PresentationFormat>On-screen Show (16:9)</ep:PresentationFormat>
  <ep:Paragraphs>345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2026-04-10T04:41:15.000</dcterms:created>
  <dc:creator>팀 石4</dc:creator>
  <cp:lastModifiedBy>smp05</cp:lastModifiedBy>
  <dcterms:modified xsi:type="dcterms:W3CDTF">2026-04-10T05:42:18.082</dcterms:modified>
  <cp:revision>21</cp:revision>
  <dc:subject>PptxGenJS Presentation</dc:subject>
  <dc:title>SGOP - Smart Grid Optimization Platform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